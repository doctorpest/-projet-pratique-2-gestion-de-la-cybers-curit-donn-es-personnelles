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6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2377440" cy="384048"/>
          </a:xfrm>
          <a:prstGeom prst="rect">
            <a:avLst/>
          </a:prstGeom>
          <a:solidFill>
            <a:srgbClr val="E85D37"/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PoPETs 2026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Sanitization or Deception?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Privacy Protection in Large Language Models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5029200" cy="36576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Paudel, Mandal, </a:t>
            </a:r>
            <a:r>
              <a:rPr lang="en-US" sz="1300" b="1" dirty="0" err="1">
                <a:solidFill>
                  <a:srgbClr val="1A2340"/>
                </a:solidFill>
              </a:rPr>
              <a:t>Amariucai</a:t>
            </a:r>
            <a:r>
              <a:rPr lang="en-US" sz="1300" dirty="0">
                <a:solidFill>
                  <a:srgbClr val="6B7FA3"/>
                </a:solidFill>
              </a:rPr>
              <a:t>   Kansas State University</a:t>
            </a: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Wei</a:t>
            </a:r>
            <a:r>
              <a:rPr lang="en-US" sz="1300" dirty="0">
                <a:solidFill>
                  <a:srgbClr val="6B7FA3"/>
                </a:solidFill>
              </a:rPr>
              <a:t>  Louisiana State University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694944"/>
          </a:xfrm>
          <a:prstGeom prst="rect">
            <a:avLst/>
          </a:prstGeom>
          <a:solidFill>
            <a:srgbClr val="EEF2F7"/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80"/>
                </a:solidFill>
              </a:rPr>
              <a:t>Ayat Allah </a:t>
            </a:r>
            <a:r>
              <a:rPr lang="en-US" sz="1200" dirty="0" err="1">
                <a:solidFill>
                  <a:srgbClr val="3D5A80"/>
                </a:solidFill>
              </a:rPr>
              <a:t>ELAnouar</a:t>
            </a:r>
            <a:r>
              <a:rPr lang="en-US" sz="1200" dirty="0">
                <a:solidFill>
                  <a:srgbClr val="3D5A80"/>
                </a:solidFill>
              </a:rPr>
              <a:t> &amp; </a:t>
            </a:r>
            <a:r>
              <a:rPr lang="en-US" sz="1200" dirty="0" err="1">
                <a:solidFill>
                  <a:srgbClr val="3D5A80"/>
                </a:solidFill>
              </a:rPr>
              <a:t>Elmamoune</a:t>
            </a:r>
            <a:r>
              <a:rPr lang="en-US" sz="1200" dirty="0">
                <a:solidFill>
                  <a:srgbClr val="3D5A80"/>
                </a:solidFill>
              </a:rPr>
              <a:t> </a:t>
            </a:r>
            <a:r>
              <a:rPr lang="en-US" sz="1200" dirty="0" err="1">
                <a:solidFill>
                  <a:srgbClr val="3D5A80"/>
                </a:solidFill>
              </a:rPr>
              <a:t>Mikou</a:t>
            </a:r>
            <a:endParaRPr lang="en-US" sz="1200" dirty="0">
              <a:solidFill>
                <a:srgbClr val="3D5A80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80"/>
                </a:solidFill>
              </a:rPr>
              <a:t>Gestion Cybersécurité / Données Personnelles   ·   UQAC   ·   Avril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640080"/>
            <a:ext cx="2011680" cy="2011680"/>
          </a:xfrm>
          <a:prstGeom prst="ellipse">
            <a:avLst/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1463040" cy="1463040"/>
          </a:xfrm>
          <a:prstGeom prst="ellipse">
            <a:avLst/>
          </a:prstGeom>
          <a:solidFill>
            <a:srgbClr val="E85D37">
              <a:alpha val="18000"/>
            </a:srgbClr>
          </a:solidFill>
          <a:ln w="12700">
            <a:solidFill>
              <a:srgbClr val="E85D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0" y="1737360"/>
            <a:ext cx="822960" cy="822960"/>
          </a:xfrm>
          <a:prstGeom prst="ellipse">
            <a:avLst/>
          </a:prstGeom>
          <a:solidFill>
            <a:srgbClr val="F4A623">
              <a:alpha val="30000"/>
            </a:srgbClr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Plan de présentation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24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5D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581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Contexte &amp; Problème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288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</a:rPr>
              <a:t>Pourquoi la confidentialité dans les LLMs est critique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" y="28163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Approche du papier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0632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</a:rPr>
              <a:t>Sanitisation vs </a:t>
            </a:r>
            <a:r>
              <a:rPr lang="en-US" sz="1000" dirty="0" err="1">
                <a:solidFill>
                  <a:srgbClr val="6B7FA3"/>
                </a:solidFill>
              </a:rPr>
              <a:t>Déception</a:t>
            </a:r>
            <a:r>
              <a:rPr lang="en-US" sz="1000" dirty="0">
                <a:solidFill>
                  <a:srgbClr val="6B7FA3"/>
                </a:solidFill>
              </a:rPr>
              <a:t>, la thèse centrale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64008" cy="107899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" y="4050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Contributions principales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29768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</a:rPr>
              <a:t>Taxonomy · Attaque NER-fool · Score de risque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5192" y="1124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65192" y="1581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18288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</a:rPr>
              <a:t>Explicites et implicites identifiées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286000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19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65192" y="28163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Perspective choisie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30632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</a:rPr>
              <a:t>Évaluation automatisée de la robustesse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4206240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3520440"/>
            <a:ext cx="64008" cy="1078992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651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5D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965192" y="4050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Démonstration live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65192" y="429768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</a:rPr>
              <a:t>Proof-of-concept Python exécutable en direct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Contexte &amp; Problème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</a:rPr>
              <a:t>Les LLMs reçoivent des données sensibles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ChatGPT, Copilot, Gemini reçoivent quotidiennement des noms, emails, diagnostics médicaux, données financières.
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</a:rPr>
              <a:t>La sanitisation NER : la solution standard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Détecter les entités nommées (noms, dates, lieux…) et les remplacer avant d'envoyer le texte au fournisseur LLM.
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85D37"/>
                </a:solidFill>
              </a:rPr>
              <a:t>La question centrale du papier :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340"/>
                </a:solidFill>
              </a:rPr>
              <a:t>« Cette sanitisation protège-t-elle vraiment la vie privée, ou ne fait-elle qu'induire une fausse confiance ? 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1005840"/>
            <a:ext cx="3383280" cy="1737360"/>
          </a:xfrm>
          <a:prstGeom prst="rect">
            <a:avLst/>
          </a:prstGeom>
          <a:solidFill>
            <a:srgbClr val="EEF2F7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383280" cy="54864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Incident Samsung ChatGPT, 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Des ingénieurs ont involontairement soumis du code propriétaire sensible à ChatGPT. Incident révélateur du risque réel.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907792"/>
            <a:ext cx="3383280" cy="1874520"/>
          </a:xfrm>
          <a:prstGeom prst="rect">
            <a:avLst/>
          </a:prstGeom>
          <a:solidFill>
            <a:srgbClr val="EEF2F7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0" y="2907792"/>
            <a:ext cx="3383280" cy="548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29992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Cadre réglementaire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336499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GDPR  ·  HIPAA  ·  PIPEDA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Les organisations ont l'obligation légale de protéger les données personnelles, même lors de l'utilisation d'APIs tierces comme ChatGPT.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Approche proposée par Paudel et 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FF4F1"/>
          </a:solidFill>
          <a:ln w="15240">
            <a:solidFill>
              <a:srgbClr val="E85D37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37"/>
                </a:solidFill>
              </a:rPr>
              <a:t>Thèse centrale  : </a:t>
            </a:r>
            <a:r>
              <a:rPr lang="en-US" sz="1400" dirty="0">
                <a:solidFill>
                  <a:srgbClr val="1A2340"/>
                </a:solidFill>
              </a:rPr>
              <a:t>La sanitisation NER ne </a:t>
            </a:r>
            <a:r>
              <a:rPr lang="en-US" sz="1400" b="1" i="1" dirty="0">
                <a:solidFill>
                  <a:srgbClr val="1A2340"/>
                </a:solidFill>
              </a:rPr>
              <a:t>supprime</a:t>
            </a:r>
            <a:r>
              <a:rPr lang="en-US" sz="1400" dirty="0">
                <a:solidFill>
                  <a:srgbClr val="1A2340"/>
                </a:solidFill>
              </a:rPr>
              <a:t> pas les PII, elle les </a:t>
            </a:r>
            <a:r>
              <a:rPr lang="en-US" sz="1400" b="1" i="1" dirty="0">
                <a:solidFill>
                  <a:srgbClr val="E85D37"/>
                </a:solidFill>
              </a:rPr>
              <a:t>déplace.</a:t>
            </a:r>
            <a:r>
              <a:rPr lang="en-US" sz="1400" dirty="0">
                <a:solidFill>
                  <a:srgbClr val="1A2340"/>
                </a:solidFill>
              </a:rPr>
              <a:t> Un adversaire LLM peut reconstituer les données à partir du contexte résiduel.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27432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73152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2304288"/>
            <a:ext cx="475488" cy="475488"/>
          </a:xfrm>
          <a:prstGeom prst="ellipse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23225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Taxonomy des attaques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290779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Classification en trois niveaux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• Reconstruction directe (valeur exacte)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• Inférence contextuelle (type/catégorie)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• Ré-identification combinatoire (données croisées)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51760" cy="27432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5176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2304288"/>
            <a:ext cx="475488" cy="47548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0208" y="23225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Attaque NER-fool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46704" y="290779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Un LLM adversarial exploite le contexte résiduel (temps verbaux, déterminants, cohérence sémantique) pour deviner les entités masquées avec une précision supérieure au hasard.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651760" cy="27432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651760" cy="7315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9632" y="2304288"/>
            <a:ext cx="475488" cy="475488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4848" y="23225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Score de risque résiduel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2907792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Métrique quantitative continue [0 → 1] mesurant la quantité d'information identifiable restant après </a:t>
            </a:r>
            <a:r>
              <a:rPr lang="en-US" sz="1100" dirty="0" err="1">
                <a:solidFill>
                  <a:srgbClr val="3D5A80"/>
                </a:solidFill>
              </a:rPr>
              <a:t>sanitisation</a:t>
            </a:r>
            <a:r>
              <a:rPr lang="en-US" sz="1100" dirty="0">
                <a:solidFill>
                  <a:srgbClr val="3D5A80"/>
                </a:solidFill>
              </a:rPr>
              <a:t> au-delà de la simple </a:t>
            </a:r>
            <a:r>
              <a:rPr lang="en-US" sz="1100" dirty="0" err="1">
                <a:solidFill>
                  <a:srgbClr val="3D5A80"/>
                </a:solidFill>
              </a:rPr>
              <a:t>présence</a:t>
            </a:r>
            <a:r>
              <a:rPr lang="en-US" sz="1100" dirty="0">
                <a:solidFill>
                  <a:srgbClr val="3D5A80"/>
                </a:solidFill>
              </a:rPr>
              <a:t>/absence de tokens PII.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Contributions principales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66928" cy="1719072"/>
          </a:xfrm>
          <a:prstGeom prst="rect">
            <a:avLst/>
          </a:prstGeom>
          <a:solidFill>
            <a:srgbClr val="E85D3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D37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07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Cadre d'analyse unifié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0934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Premier cadre comparant côte à côte le masquage, le remplacement synthétique et la pseudonymisation sur les mêmes métriques de risque résiduel.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566928" cy="1719072"/>
          </a:xfrm>
          <a:prstGeom prst="rect">
            <a:avLst/>
          </a:prstGeom>
          <a:solidFill>
            <a:srgbClr val="2E86A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07899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207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Attaque de reconstruction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60934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Démonstration empirique : un LLM adversarial retrouve les PII originaux avec une précision bien supérieure au hasard sur tous les types de substitution testés.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566928" cy="1719072"/>
          </a:xfrm>
          <a:prstGeom prst="rect">
            <a:avLst/>
          </a:prstGeom>
          <a:solidFill>
            <a:srgbClr val="F4A623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23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Trade-off privacy / utilité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2958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La sanitisation agressive réduit l'utilité du texte jusqu'à 40% tout en n'éliminant pas totalement le risque de ré-identification.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99232"/>
            <a:ext cx="4206240" cy="17190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999232"/>
            <a:ext cx="566928" cy="1719072"/>
          </a:xfrm>
          <a:prstGeom prst="rect">
            <a:avLst/>
          </a:prstGeom>
          <a:solidFill>
            <a:srgbClr val="9B59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999232"/>
            <a:ext cx="5669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B59B6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Recommandations pratiques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529584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</a:rPr>
              <a:t>Guidelines pour développeurs : quels PII résistent mieux, dans quelles conditions la sanitisation est insuffisante sans mesures complémentaires.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04a  Limitations: </a:t>
            </a:r>
            <a:r>
              <a:rPr lang="en-US" sz="2100" b="1" dirty="0" err="1">
                <a:solidFill>
                  <a:srgbClr val="FFFFFF"/>
                </a:solidFill>
              </a:rPr>
              <a:t>Explicites</a:t>
            </a:r>
            <a:r>
              <a:rPr lang="en-US" sz="2100" b="1" dirty="0">
                <a:solidFill>
                  <a:srgbClr val="FFFFFF"/>
                </a:solidFill>
              </a:rPr>
              <a:t> (mentionnées par les auteurs)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371600" cy="822960"/>
          </a:xfrm>
          <a:prstGeom prst="rect">
            <a:avLst/>
          </a:prstGeom>
          <a:solidFill>
            <a:srgbClr val="E85D3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D37"/>
                </a:solidFill>
              </a:rPr>
              <a:t>Langue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1952" y="109728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</a:rPr>
              <a:t>Expériences uniquement en anglais. L'efficacité de l'attaque sur des langues morphologiquement riches (français, arabe, allemand) reste inconnue.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371600" cy="822960"/>
          </a:xfrm>
          <a:prstGeom prst="rect">
            <a:avLst/>
          </a:prstGeom>
          <a:solidFill>
            <a:srgbClr val="2E86A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AB"/>
                </a:solidFill>
              </a:rPr>
              <a:t>Corpus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01952" y="205740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</a:rPr>
              <a:t>Évaluation sur un ensemble de datasets limité. Les domaines médical, juridique et financier ont des structures PII très différentes qui peuvent réagir autrement.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1371600" cy="822960"/>
          </a:xfrm>
          <a:prstGeom prst="rect">
            <a:avLst/>
          </a:prstGeom>
          <a:solidFill>
            <a:srgbClr val="F4A62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623"/>
                </a:solidFill>
              </a:rPr>
              <a:t>Modèles 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01952" y="301752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</a:rPr>
              <a:t>L'attaque est testée avec des modèles existants (GPT-family). Des modèles futurs, plus puissants, présenteront des risques encore plus élevés.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1371600" cy="822960"/>
          </a:xfrm>
          <a:prstGeom prst="rect">
            <a:avLst/>
          </a:prstGeom>
          <a:solidFill>
            <a:srgbClr val="9B59B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01952" y="3977640"/>
            <a:ext cx="6748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</a:rPr>
              <a:t>Le score de risque résiduel proposé n'est pas encore intégré dans des outils industriels. Son coût computationnel pour un usage temps-réel n'est pas évalué.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04b  Limitations: Implicites (identifiées à la lecture critique)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Hypothèse d'adversaire passif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80"/>
                </a:solidFill>
              </a:rPr>
              <a:t>Le papier suppose un attaquant qui observe le texte mais n'interagit pas avec le pipeline. Un adversaire actif (prompt injection, manipulation du sanitiseur) représente une surface d'attaque plus large, non adressée.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039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NER = PII formels uniquement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5000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80"/>
                </a:solidFill>
              </a:rPr>
              <a:t>Les PII </a:t>
            </a:r>
            <a:r>
              <a:rPr lang="en-US" sz="1050" dirty="0" err="1">
                <a:solidFill>
                  <a:srgbClr val="3D5A80"/>
                </a:solidFill>
              </a:rPr>
              <a:t>implicites</a:t>
            </a:r>
            <a:r>
              <a:rPr lang="en-US" sz="1050" dirty="0">
                <a:solidFill>
                  <a:srgbClr val="3D5A80"/>
                </a:solidFill>
              </a:rPr>
              <a:t> descriptions comportementales, contexte temporel unique, détails </a:t>
            </a:r>
            <a:r>
              <a:rPr lang="en-US" sz="1050" dirty="0" err="1">
                <a:solidFill>
                  <a:srgbClr val="3D5A80"/>
                </a:solidFill>
              </a:rPr>
              <a:t>biométriques</a:t>
            </a:r>
            <a:r>
              <a:rPr lang="en-US" sz="1050" dirty="0">
                <a:solidFill>
                  <a:srgbClr val="3D5A80"/>
                </a:solidFill>
              </a:rPr>
              <a:t> </a:t>
            </a:r>
            <a:r>
              <a:rPr lang="en-US" sz="1050" dirty="0" err="1">
                <a:solidFill>
                  <a:srgbClr val="3D5A80"/>
                </a:solidFill>
              </a:rPr>
              <a:t>indirects</a:t>
            </a:r>
            <a:r>
              <a:rPr lang="en-US" sz="1050" dirty="0">
                <a:solidFill>
                  <a:srgbClr val="3D5A80"/>
                </a:solidFill>
              </a:rPr>
              <a:t> ne sont jamais captés par les NER classiques, même performants.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Métrique de risque non granulaire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80"/>
                </a:solidFill>
              </a:rPr>
              <a:t>Le score de risque agrège toutes les entités uniformément. Remplacer un prénom et remplacer un numéro de sécurité sociale ont le même poids dans le </a:t>
            </a:r>
            <a:r>
              <a:rPr lang="en-US" sz="1050" dirty="0" err="1">
                <a:solidFill>
                  <a:srgbClr val="3D5A80"/>
                </a:solidFill>
              </a:rPr>
              <a:t>calcul</a:t>
            </a:r>
            <a:r>
              <a:rPr lang="en-US" sz="1050" dirty="0">
                <a:solidFill>
                  <a:srgbClr val="3D5A80"/>
                </a:solidFill>
              </a:rPr>
              <a:t> </a:t>
            </a:r>
            <a:r>
              <a:rPr lang="en-US" sz="1050" dirty="0" err="1">
                <a:solidFill>
                  <a:srgbClr val="3D5A80"/>
                </a:solidFill>
              </a:rPr>
              <a:t>ce</a:t>
            </a:r>
            <a:r>
              <a:rPr lang="en-US" sz="1050" dirty="0">
                <a:solidFill>
                  <a:srgbClr val="3D5A80"/>
                </a:solidFill>
              </a:rPr>
              <a:t> qui est discutable.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548640" cy="82296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9593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Absence d'évaluation humaine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27024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80"/>
                </a:solidFill>
              </a:rPr>
              <a:t>L'évaluation est entièrement automatisée. Des études </a:t>
            </a:r>
            <a:r>
              <a:rPr lang="en-US" sz="1050" dirty="0" err="1">
                <a:solidFill>
                  <a:srgbClr val="3D5A80"/>
                </a:solidFill>
              </a:rPr>
              <a:t>utilisateur</a:t>
            </a:r>
            <a:r>
              <a:rPr lang="en-US" sz="1050" dirty="0">
                <a:solidFill>
                  <a:srgbClr val="3D5A80"/>
                </a:solidFill>
              </a:rPr>
              <a:t> avec de vrais humains tentant la </a:t>
            </a:r>
            <a:r>
              <a:rPr lang="en-US" sz="1050" dirty="0" err="1">
                <a:solidFill>
                  <a:srgbClr val="3D5A80"/>
                </a:solidFill>
              </a:rPr>
              <a:t>ré</a:t>
            </a:r>
            <a:r>
              <a:rPr lang="en-US" sz="1050" dirty="0">
                <a:solidFill>
                  <a:srgbClr val="3D5A80"/>
                </a:solidFill>
              </a:rPr>
              <a:t>-identification </a:t>
            </a:r>
            <a:r>
              <a:rPr lang="en-US" sz="1050" dirty="0" err="1">
                <a:solidFill>
                  <a:srgbClr val="3D5A80"/>
                </a:solidFill>
              </a:rPr>
              <a:t>seraient</a:t>
            </a:r>
            <a:r>
              <a:rPr lang="en-US" sz="1050" dirty="0">
                <a:solidFill>
                  <a:srgbClr val="3D5A80"/>
                </a:solidFill>
              </a:rPr>
              <a:t> nécessaires pour valider que le score prédit correctement le risque réel.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Perspective choisie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24128"/>
          </a:xfrm>
          <a:prstGeom prst="rect">
            <a:avLst/>
          </a:prstGeom>
          <a:solidFill>
            <a:srgbClr val="EBF5FB"/>
          </a:solidFill>
          <a:ln w="15240">
            <a:solidFill>
              <a:srgbClr val="2E86AB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Perspective  : </a:t>
            </a:r>
            <a:r>
              <a:rPr lang="en-US" sz="1500" b="1" dirty="0">
                <a:solidFill>
                  <a:srgbClr val="1A2340"/>
                </a:solidFill>
              </a:rPr>
              <a:t>Évaluation automatisée de la robustesse post-sanitisation
</a:t>
            </a:r>
            <a:r>
              <a:rPr lang="en-US" sz="1200" dirty="0">
                <a:solidFill>
                  <a:srgbClr val="3D5A80"/>
                </a:solidFill>
              </a:rPr>
              <a:t>Construire un outil de benchmark qui mesure, pour n'importe quel texte sanitisé, la quantité d'information PII encore récupérable par un LLM adversarial.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Pourquoi cette perspective est pertinente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475488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2670048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Directement issue des limitations : les auteurs appellent explicitement à des outils pratiques de mesure du risque résiduel.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236976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Elle transforme le résultat théorique (score de risque) en un outil concret évaluant des stratégies réelles.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803904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Elle couvre une limitation implicite : le papier ne compare pas les stratégies de remplacement entre </a:t>
            </a:r>
            <a:r>
              <a:rPr lang="en-US" sz="1200" dirty="0" err="1">
                <a:solidFill>
                  <a:srgbClr val="3D5A80"/>
                </a:solidFill>
              </a:rPr>
              <a:t>elles</a:t>
            </a:r>
            <a:r>
              <a:rPr lang="en-US" sz="1200" dirty="0">
                <a:solidFill>
                  <a:srgbClr val="3D5A80"/>
                </a:solidFill>
              </a:rPr>
              <a:t> notre démo le fait.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4370832"/>
            <a:ext cx="310896" cy="31089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334256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Implémentable sans infrastructure lourde : Python + spaCy + simulateur probabiliste suffisent.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06  Démonstration — Architecture du pipeline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1572768" cy="1371600"/>
          </a:xfrm>
          <a:prstGeom prst="rect">
            <a:avLst/>
          </a:prstGeom>
          <a:solidFill>
            <a:srgbClr val="E85D37">
              <a:alpha val="90000"/>
            </a:srgbClr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3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original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Texte avec PII réels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(noms, dates, IDs…)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93392" y="1115568"/>
            <a:ext cx="1572768" cy="1371600"/>
          </a:xfrm>
          <a:prstGeom prst="rect">
            <a:avLst/>
          </a:prstGeom>
          <a:solidFill>
            <a:srgbClr val="2E86AB">
              <a:alpha val="90000"/>
            </a:srgbClr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4203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203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339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(spaCy)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Détection auto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des entités nommées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8444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30752" y="1115568"/>
            <a:ext cx="1572768" cy="1371600"/>
          </a:xfrm>
          <a:prstGeom prst="rect">
            <a:avLst/>
          </a:prstGeom>
          <a:solidFill>
            <a:srgbClr val="F4A623">
              <a:alpha val="90000"/>
            </a:srgbClr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7939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7939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623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3075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Sanitisation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075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Masquage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Pseudo. / Générique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180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68112" y="1115568"/>
            <a:ext cx="1572768" cy="1371600"/>
          </a:xfrm>
          <a:prstGeom prst="rect">
            <a:avLst/>
          </a:prstGeom>
          <a:solidFill>
            <a:srgbClr val="9B59B6">
              <a:alpha val="90000"/>
            </a:srgbClr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1675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1675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6811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simulée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6811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Tentative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reconstruction des PII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9168" y="1618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FA3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05472" y="1115568"/>
            <a:ext cx="1572768" cy="1371600"/>
          </a:xfrm>
          <a:prstGeom prst="rect">
            <a:avLst/>
          </a:prstGeom>
          <a:solidFill>
            <a:srgbClr val="2E86AB">
              <a:alpha val="90000"/>
            </a:srgbClr>
          </a:solidFill>
          <a:ln/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54112" y="12070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5411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05472" y="17190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risque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2084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Taux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ré-identification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2761488"/>
            <a:ext cx="8412480" cy="2176272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2761488"/>
            <a:ext cx="8412480" cy="548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28346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Comment le score de risque est calculé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3218688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Pour chaque entité détectée</a:t>
            </a:r>
            <a:r>
              <a:rPr lang="en-US" sz="1150" dirty="0">
                <a:solidFill>
                  <a:srgbClr val="3D5A80"/>
                </a:solidFill>
              </a:rPr>
              <a:t>, le simulateur tire un nombre aléatoire entre 0 et 1 et le compare à un </a:t>
            </a:r>
            <a:r>
              <a:rPr lang="en-US" sz="1150" b="1" dirty="0">
                <a:solidFill>
                  <a:srgbClr val="2E86AB"/>
                </a:solidFill>
              </a:rPr>
              <a:t>taux de récupération calibré</a:t>
            </a:r>
            <a:r>
              <a:rPr lang="en-US" sz="1150" dirty="0">
                <a:solidFill>
                  <a:srgbClr val="3D5A80"/>
                </a:solidFill>
              </a:rPr>
              <a:t> selon le type d'entité et la stratégie.</a:t>
            </a: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Masquage / PERSON = 78%  </a:t>
            </a:r>
            <a:r>
              <a:rPr lang="en-US" sz="1100" dirty="0">
                <a:solidFill>
                  <a:srgbClr val="3D5A80"/>
                </a:solidFill>
              </a:rPr>
              <a:t>→ contexte fort (rôle, genre révélés par la phrase)    </a:t>
            </a:r>
            <a:r>
              <a:rPr lang="en-US" sz="1100" b="1" dirty="0">
                <a:solidFill>
                  <a:srgbClr val="27AE60"/>
                </a:solidFill>
              </a:rPr>
              <a:t>Masquage / ID = 20%  </a:t>
            </a:r>
            <a:r>
              <a:rPr lang="en-US" sz="1100" dirty="0">
                <a:solidFill>
                  <a:srgbClr val="3D5A80"/>
                </a:solidFill>
              </a:rPr>
              <a:t>→ identifiant opaque, imprévisible
</a:t>
            </a: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Générique / PERSON = 35%  </a:t>
            </a:r>
            <a:r>
              <a:rPr lang="en-US" sz="1100" dirty="0">
                <a:solidFill>
                  <a:srgbClr val="3D5A80"/>
                </a:solidFill>
              </a:rPr>
              <a:t>→ "a person" donne peu d'indices    </a:t>
            </a:r>
            <a:r>
              <a:rPr lang="en-US" sz="1100" b="1" dirty="0">
                <a:solidFill>
                  <a:srgbClr val="1A2340"/>
                </a:solidFill>
              </a:rPr>
              <a:t>Score final = entités récupérées / total entités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Démonstration </a:t>
            </a:r>
            <a:r>
              <a:rPr lang="en-US" sz="2400" b="1" dirty="0" err="1">
                <a:solidFill>
                  <a:srgbClr val="FFFFFF"/>
                </a:solidFill>
              </a:rPr>
              <a:t>en</a:t>
            </a:r>
            <a:r>
              <a:rPr lang="en-US" sz="2400" b="1" dirty="0">
                <a:solidFill>
                  <a:srgbClr val="FFFFFF"/>
                </a:solidFill>
              </a:rPr>
              <a:t> direct Terminal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0FBF4"/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Commande à lancer :  </a:t>
            </a:r>
            <a:r>
              <a:rPr lang="en-US" sz="13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demo_live.py --auto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841248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914400" cy="914400"/>
          </a:xfrm>
          <a:prstGeom prst="rect">
            <a:avLst/>
          </a:prstGeom>
          <a:solidFill>
            <a:srgbClr val="E85D37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37"/>
                </a:solidFill>
              </a:rPr>
              <a:t>Étape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37"/>
                </a:solidFill>
              </a:rPr>
              <a:t>Détection 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938528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entités PII s'affichent en rouge dans le texte original.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[Dr. Sophie Tremblay](PERSON)  [DOB: 12 June 1978](DATE)  [file #MCH-2024-00442](ID)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841248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914400" cy="914400"/>
          </a:xfrm>
          <a:prstGeom prst="rect">
            <a:avLst/>
          </a:prstGeom>
          <a:solidFill>
            <a:srgbClr val="2E86A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Étape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25526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</a:rPr>
              <a:t>Sanitisation ×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962656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original apparaît en 3 versions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[MASK_PERSON]…  /  Sam Tremblay…  /  a person…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841248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914400" cy="914400"/>
          </a:xfrm>
          <a:prstGeom prst="rect">
            <a:avLst/>
          </a:prstGeom>
          <a:solidFill>
            <a:srgbClr val="9B59B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</a:rPr>
              <a:t>Étape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2793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</a:rPr>
              <a:t>Score de </a:t>
            </a:r>
            <a:r>
              <a:rPr lang="en-US" sz="1100" b="1" dirty="0" err="1">
                <a:solidFill>
                  <a:srgbClr val="9B59B6"/>
                </a:solidFill>
              </a:rPr>
              <a:t>risque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986784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[████████████░░░░░░]  83% RISQUE ÉLEVÉ    vs    [█████░░░░░░░░░░░░░]  16% RISQUE RÉDUIT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se remplit en rouge ou vert selon le risque de chaque stratégie.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36592"/>
            <a:ext cx="8412480" cy="329184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A3"/>
                </a:solidFill>
              </a:rPr>
              <a:t>Tous les résultats s'affichent en direct dans le terminal. Chaque run peut varier légèrement (simulation probabiliste avec seed fixe pour la reproductibilité).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1115568"/>
          </a:xfrm>
          <a:prstGeom prst="rect">
            <a:avLst/>
          </a:prstGeom>
          <a:solidFill>
            <a:srgbClr val="E85D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43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37"/>
                </a:solidFill>
              </a:rPr>
              <a:t>Ce que le papier apporte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27048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Un changement de paradigme : la question n'est plus « est-ce qu'on a masqué les PII ? » mais « combien d'information reste accessible à un adversaire LLM après la sanitisation ? » La sanitisation NER seule est insuffisante.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1115568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64008" cy="11155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404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Ce que notre démo illustre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788920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En testant trois stratégies sur les mêmes textes, on valide l'insight clé : le remplacement générique est le plus robuste (~44% de risque), mais aucune stratégie n'atteint zéro. Le masquage simple laisse ~73% des données récupérables.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75304"/>
            <a:ext cx="8412480" cy="1115568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B8C4D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64008" cy="1115568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66674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23"/>
                </a:solidFill>
              </a:rPr>
              <a:t>Perspectives futures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8119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</a:rPr>
              <a:t>Combiner sanitisation NER + differential privacy textuelle pour des garanties formelles. Ou entraîner un NER adversarial qui anticipe le risque résiduel avant même d'effectuer la sanitisation.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FA3"/>
                </a:solidFill>
              </a:rPr>
              <a:t>Paudel et al., « Sanitization or Deception? »  ·  PoPETs 2026  ·  Gestion Cybersécurité / Données Personnelles  ·  UQAC  ·  Avril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1316</Words>
  <Application>Microsoft Macintosh PowerPoint</Application>
  <PresentationFormat>On-screen Show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Sanitization or Deception? — Projet Pratique 2</dc:title>
  <dc:subject>PptxGenJS Presentation</dc:subject>
  <dc:creator>PptxGenJS</dc:creator>
  <cp:lastModifiedBy>AYAT-ALLAH EL ANOUAR</cp:lastModifiedBy>
  <cp:revision>3</cp:revision>
  <dcterms:created xsi:type="dcterms:W3CDTF">2026-04-07T11:24:20Z</dcterms:created>
  <dcterms:modified xsi:type="dcterms:W3CDTF">2026-04-15T04:14:23Z</dcterms:modified>
</cp:coreProperties>
</file>
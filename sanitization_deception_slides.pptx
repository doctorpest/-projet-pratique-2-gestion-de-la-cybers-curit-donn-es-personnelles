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5D3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2377440" cy="384048"/>
          </a:xfrm>
          <a:prstGeom prst="rect">
            <a:avLst/>
          </a:prstGeom>
          <a:solidFill>
            <a:srgbClr val="E85D37"/>
          </a:solidFill>
          <a:ln/>
          <a:effectLst>
            <a:outerShdw sx="100000" sy="100000" kx="0" ky="0" algn="bl" rotWithShape="0" blurRad="76200" dist="25400" dir="8100000">
              <a:srgbClr val="B8C4D8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2560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PoPETs 2026  ·  Article #0009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Sanitization or Deception?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Rethinking Privacy Protection in Large Language Models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2542032"/>
            <a:ext cx="5029200" cy="36576"/>
          </a:xfrm>
          <a:prstGeom prst="rect">
            <a:avLst/>
          </a:prstGeom>
          <a:solidFill>
            <a:srgbClr val="E85D3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670048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</a:rPr>
              <a:t>Paudel, Mandal, Amariucai</a:t>
            </a:r>
            <a:pPr indent="0" marL="0">
              <a:buNone/>
            </a:pPr>
            <a:r>
              <a:rPr lang="en-US" sz="1300" dirty="0">
                <a:solidFill>
                  <a:srgbClr val="6B7FA3"/>
                </a:solidFill>
              </a:rPr>
              <a:t>  —  Kansas State University</a:t>
            </a:r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</a:rPr>
              <a:t>Wei</a:t>
            </a:r>
            <a:pPr indent="0" marL="0">
              <a:buNone/>
            </a:pPr>
            <a:r>
              <a:rPr lang="en-US" sz="1300" dirty="0">
                <a:solidFill>
                  <a:srgbClr val="6B7FA3"/>
                </a:solidFill>
              </a:rPr>
              <a:t>  —  Louisiana State University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8229600" cy="694944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76200" dist="25400" dir="8100000">
              <a:srgbClr val="B8C4D8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931920"/>
            <a:ext cx="8229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80"/>
                </a:solidFill>
              </a:rPr>
              <a:t>[Votre Nom]  &amp;  [Votre Coéquipier]   ·   Gestion Cybersécurité / Données Personnelles   ·   UQAC   ·   Avril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49440" y="640080"/>
            <a:ext cx="2011680" cy="2011680"/>
          </a:xfrm>
          <a:prstGeom prst="ellipse">
            <a:avLst/>
          </a:prstGeom>
          <a:solidFill>
            <a:srgbClr val="2E86AB">
              <a:alpha val="12000"/>
            </a:srgbClr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06640" y="1371600"/>
            <a:ext cx="1463040" cy="1463040"/>
          </a:xfrm>
          <a:prstGeom prst="ellipse">
            <a:avLst/>
          </a:prstGeom>
          <a:solidFill>
            <a:srgbClr val="E85D37">
              <a:alpha val="18000"/>
            </a:srgbClr>
          </a:solidFill>
          <a:ln w="12700">
            <a:solidFill>
              <a:srgbClr val="E85D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0" y="1737360"/>
            <a:ext cx="822960" cy="822960"/>
          </a:xfrm>
          <a:prstGeom prst="ellipse">
            <a:avLst/>
          </a:prstGeom>
          <a:solidFill>
            <a:srgbClr val="F4A623">
              <a:alpha val="30000"/>
            </a:srgbClr>
          </a:solidFill>
          <a:ln w="12700">
            <a:solidFill>
              <a:srgbClr val="F4A62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E85D3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Plan de présentation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206240" cy="1078992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B8C4D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64008" cy="1078992"/>
          </a:xfrm>
          <a:prstGeom prst="rect">
            <a:avLst/>
          </a:prstGeom>
          <a:solidFill>
            <a:srgbClr val="E85D37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124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5D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30352" y="158191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</a:rPr>
              <a:t>Contexte &amp; Problème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1828800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</a:rPr>
              <a:t>Pourquoi la confidentialité dans les LLMs est critique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4206240" cy="1078992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B8C4D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286000"/>
            <a:ext cx="64008" cy="107899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2359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30352" y="281635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</a:rPr>
              <a:t>Approche du papier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" y="3063240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</a:rPr>
              <a:t>Sanitisation vs Déception — la thèse centrale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520440"/>
            <a:ext cx="4206240" cy="1078992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B8C4D8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520440"/>
            <a:ext cx="64008" cy="1078992"/>
          </a:xfrm>
          <a:prstGeom prst="rect">
            <a:avLst/>
          </a:prstGeom>
          <a:solidFill>
            <a:srgbClr val="F4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" y="3593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30352" y="405079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</a:rPr>
              <a:t>Contributions principales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" y="4297680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</a:rPr>
              <a:t>Taxonomy · Attaque NER-fool · Score de risque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1051560"/>
            <a:ext cx="4206240" cy="1078992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B8C4D8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1051560"/>
            <a:ext cx="64008" cy="1078992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2" name="Text 20"/>
          <p:cNvSpPr/>
          <p:nvPr/>
        </p:nvSpPr>
        <p:spPr>
          <a:xfrm>
            <a:off x="4965192" y="1124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B59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965192" y="158191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</a:rPr>
              <a:t>Limitations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65192" y="1828800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</a:rPr>
              <a:t>Explicites et implicites identifiées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2286000"/>
            <a:ext cx="4206240" cy="1078992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B8C4D8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2286000"/>
            <a:ext cx="64008" cy="107899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7" name="Text 25"/>
          <p:cNvSpPr/>
          <p:nvPr/>
        </p:nvSpPr>
        <p:spPr>
          <a:xfrm>
            <a:off x="4965192" y="2359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965192" y="281635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</a:rPr>
              <a:t>Perspective choisie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65192" y="3063240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</a:rPr>
              <a:t>Évaluation automatisée de la robustesse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3520440"/>
            <a:ext cx="4206240" cy="1078992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B8C4D8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520440"/>
            <a:ext cx="64008" cy="1078992"/>
          </a:xfrm>
          <a:prstGeom prst="rect">
            <a:avLst/>
          </a:prstGeom>
          <a:solidFill>
            <a:srgbClr val="E85D37"/>
          </a:solidFill>
          <a:ln/>
        </p:spPr>
      </p:sp>
      <p:sp>
        <p:nvSpPr>
          <p:cNvPr id="32" name="Text 30"/>
          <p:cNvSpPr/>
          <p:nvPr/>
        </p:nvSpPr>
        <p:spPr>
          <a:xfrm>
            <a:off x="4965192" y="3593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5D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4965192" y="405079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</a:rPr>
              <a:t>Démonstration live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65192" y="4297680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</a:rPr>
              <a:t>Proof-of-concept Python exécutable en direct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E85D3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01  Contexte &amp; Problème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47548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40"/>
                </a:solidFill>
              </a:rPr>
              <a:t>Les LLMs reçoivent des données sensibles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D5A80"/>
                </a:solidFill>
              </a:rPr>
              <a:t>ChatGPT, Copilot, Gemini reçoivent quotidiennement des noms, emails, diagnostics médicaux, données financières.
</a:t>
            </a:r>
            <a:endParaRPr lang="en-US" sz="15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2340"/>
                </a:solidFill>
              </a:rPr>
              <a:t>La sanitisation NER : la solution standard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D5A80"/>
                </a:solidFill>
              </a:rPr>
              <a:t>Détecter les entités nommées (noms, dates, lieux…) et les remplacer avant d'envoyer le texte au fournisseur LLM.
</a:t>
            </a:r>
            <a:endParaRPr lang="en-US" sz="15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85D37"/>
                </a:solidFill>
              </a:rPr>
              <a:t>La question centrale du papier :</a:t>
            </a:r>
            <a:endParaRPr lang="en-US" sz="15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A2340"/>
                </a:solidFill>
              </a:rPr>
              <a:t>« Cette sanitisation protège-t-elle vraiment la vie privée, ou ne fait-elle qu'induire une fausse confiance ? »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0" y="1005840"/>
            <a:ext cx="3383280" cy="1737360"/>
          </a:xfrm>
          <a:prstGeom prst="rect">
            <a:avLst/>
          </a:prstGeom>
          <a:solidFill>
            <a:srgbClr val="EEF2F7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B8C4D8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0" y="1005840"/>
            <a:ext cx="3383280" cy="54864"/>
          </a:xfrm>
          <a:prstGeom prst="rect">
            <a:avLst/>
          </a:prstGeom>
          <a:solidFill>
            <a:srgbClr val="E85D37"/>
          </a:solidFill>
          <a:ln/>
        </p:spPr>
      </p:sp>
      <p:sp>
        <p:nvSpPr>
          <p:cNvPr id="8" name="Text 6"/>
          <p:cNvSpPr/>
          <p:nvPr/>
        </p:nvSpPr>
        <p:spPr>
          <a:xfrm>
            <a:off x="5577840" y="10972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</a:rPr>
              <a:t>Incident Samsung — ChatGPT, 2023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77840" y="146304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80"/>
                </a:solidFill>
              </a:rPr>
              <a:t>Des ingénieurs ont involontairement soumis du code propriétaire sensible à ChatGPT. Incident révélateur du risque réel.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0" y="2907792"/>
            <a:ext cx="3383280" cy="1874520"/>
          </a:xfrm>
          <a:prstGeom prst="rect">
            <a:avLst/>
          </a:prstGeom>
          <a:solidFill>
            <a:srgbClr val="EEF2F7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B8C4D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0" y="2907792"/>
            <a:ext cx="338328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2" name="Text 10"/>
          <p:cNvSpPr/>
          <p:nvPr/>
        </p:nvSpPr>
        <p:spPr>
          <a:xfrm>
            <a:off x="5577840" y="29992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</a:rPr>
              <a:t>Cadre réglementaire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77840" y="3364992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80"/>
                </a:solidFill>
              </a:rPr>
              <a:t>GDPR  ·  HIPAA  ·  PIPEDA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5A80"/>
                </a:solidFill>
              </a:rPr>
              <a:t>Les organisations ont l'obligation légale de protéger les données personnelles, même lors de l'utilisation d'APIs tierces comme ChatGPT.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02  Approche proposée par Paudel et al.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914400"/>
          </a:xfrm>
          <a:prstGeom prst="rect">
            <a:avLst/>
          </a:prstGeom>
          <a:solidFill>
            <a:srgbClr val="FFF4F1"/>
          </a:solidFill>
          <a:ln w="15240">
            <a:solidFill>
              <a:srgbClr val="E85D37"/>
            </a:solidFill>
            <a:prstDash val="solid"/>
          </a:ln>
          <a:effectLst>
            <a:outerShdw sx="100000" sy="100000" kx="0" ky="0" algn="bl" rotWithShape="0" blurRad="76200" dist="25400" dir="8100000">
              <a:srgbClr val="B8C4D8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5156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D37"/>
                </a:solidFill>
              </a:rPr>
              <a:t>Thèse centrale  : </a:t>
            </a:r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</a:rPr>
              <a:t>La sanitisation NER ne </a:t>
            </a:r>
            <a:pPr indent="0" marL="0">
              <a:buNone/>
            </a:pPr>
            <a:r>
              <a:rPr lang="en-US" sz="1400" b="1" i="1" dirty="0">
                <a:solidFill>
                  <a:srgbClr val="1A2340"/>
                </a:solidFill>
              </a:rPr>
              <a:t>supprime</a:t>
            </a:r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</a:rPr>
              <a:t> pas les PII — elle les </a:t>
            </a:r>
            <a:pPr indent="0" marL="0">
              <a:buNone/>
            </a:pPr>
            <a:r>
              <a:rPr lang="en-US" sz="1400" b="1" i="1" dirty="0">
                <a:solidFill>
                  <a:srgbClr val="E85D37"/>
                </a:solidFill>
              </a:rPr>
              <a:t>déplace.</a:t>
            </a:r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</a:rPr>
              <a:t> Un adversaire LLM peut reconstituer les données à partir du contexte résiduel.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2651760" cy="2743200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B8C4D8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103120"/>
            <a:ext cx="2651760" cy="73152"/>
          </a:xfrm>
          <a:prstGeom prst="rect">
            <a:avLst/>
          </a:prstGeom>
          <a:solidFill>
            <a:srgbClr val="E85D37"/>
          </a:solidFill>
          <a:ln/>
        </p:spPr>
      </p:sp>
      <p:sp>
        <p:nvSpPr>
          <p:cNvPr id="9" name="Shape 7"/>
          <p:cNvSpPr/>
          <p:nvPr/>
        </p:nvSpPr>
        <p:spPr>
          <a:xfrm>
            <a:off x="530352" y="2304288"/>
            <a:ext cx="475488" cy="475488"/>
          </a:xfrm>
          <a:prstGeom prst="ellipse">
            <a:avLst/>
          </a:prstGeom>
          <a:solidFill>
            <a:srgbClr val="E85D37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3042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15568" y="232257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</a:rPr>
              <a:t>Taxonomy des attaques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" y="2907792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80"/>
                </a:solidFill>
              </a:rPr>
              <a:t>Classification en trois niveaux 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5A80"/>
                </a:solidFill>
              </a:rPr>
              <a:t>• Reconstruction directe (valeur exacte)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5A80"/>
                </a:solidFill>
              </a:rPr>
              <a:t>• Inférence contextuelle (type/catégorie)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5A80"/>
                </a:solidFill>
              </a:rPr>
              <a:t>• Ré-identification combinatoire (données croisées)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2103120"/>
            <a:ext cx="2651760" cy="2743200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B8C4D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2103120"/>
            <a:ext cx="2651760" cy="731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5" name="Shape 13"/>
          <p:cNvSpPr/>
          <p:nvPr/>
        </p:nvSpPr>
        <p:spPr>
          <a:xfrm>
            <a:off x="3364992" y="2304288"/>
            <a:ext cx="475488" cy="47548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6" name="Text 14"/>
          <p:cNvSpPr/>
          <p:nvPr/>
        </p:nvSpPr>
        <p:spPr>
          <a:xfrm>
            <a:off x="3364992" y="23042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950208" y="232257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</a:rPr>
              <a:t>Attaque NER-fool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46704" y="2907792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80"/>
                </a:solidFill>
              </a:rPr>
              <a:t>Un LLM adversarial exploite le contexte résiduel (temps verbaux, déterminants, cohérence sémantique) pour deviner les entités masquées avec une précision supérieure au hasard.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2103120"/>
            <a:ext cx="2651760" cy="2743200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B8C4D8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2103120"/>
            <a:ext cx="2651760" cy="73152"/>
          </a:xfrm>
          <a:prstGeom prst="rect">
            <a:avLst/>
          </a:prstGeom>
          <a:solidFill>
            <a:srgbClr val="F4A623"/>
          </a:solidFill>
          <a:ln/>
        </p:spPr>
      </p:sp>
      <p:sp>
        <p:nvSpPr>
          <p:cNvPr id="21" name="Shape 19"/>
          <p:cNvSpPr/>
          <p:nvPr/>
        </p:nvSpPr>
        <p:spPr>
          <a:xfrm>
            <a:off x="6199632" y="2304288"/>
            <a:ext cx="475488" cy="475488"/>
          </a:xfrm>
          <a:prstGeom prst="ellipse">
            <a:avLst/>
          </a:prstGeom>
          <a:solidFill>
            <a:srgbClr val="F4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6199632" y="23042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784848" y="232257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</a:rPr>
              <a:t>Score de risque résiduel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81344" y="2907792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80"/>
                </a:solidFill>
              </a:rPr>
              <a:t>Métrique quantitative continue [0 → 1] mesurant la quantité d'information identifiable restant après sanitisation — au-delà de la simple présence/absence de tokens PII.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F4A62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03  Contributions principales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206240" cy="1719072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B8C4D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78992"/>
            <a:ext cx="566928" cy="1719072"/>
          </a:xfrm>
          <a:prstGeom prst="rect">
            <a:avLst/>
          </a:prstGeom>
          <a:solidFill>
            <a:srgbClr val="E85D37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78992"/>
            <a:ext cx="56692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5D37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120700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</a:rPr>
              <a:t>Cadre d'analyse unifié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609344"/>
            <a:ext cx="340156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80"/>
                </a:solidFill>
              </a:rPr>
              <a:t>Premier cadre comparant côte à côte le masquage, le remplacement synthétique et la pseudonymisation sur les mêmes métriques de risque résiduel.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078992"/>
            <a:ext cx="4206240" cy="1719072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B8C4D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078992"/>
            <a:ext cx="566928" cy="1719072"/>
          </a:xfrm>
          <a:prstGeom prst="rect">
            <a:avLst/>
          </a:prstGeom>
          <a:solidFill>
            <a:srgbClr val="2E86AB">
              <a:alpha val="1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078992"/>
            <a:ext cx="56692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86AB"/>
                </a:solidFill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0" y="120700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</a:rPr>
              <a:t>Attaque de reconstruction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0" y="1609344"/>
            <a:ext cx="340156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80"/>
                </a:solidFill>
              </a:rPr>
              <a:t>Démonstration empirique : un LLM adversarial retrouve les PII originaux avec une précision bien supérieure au hasard sur tous les types de substitution testés.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999232"/>
            <a:ext cx="4206240" cy="1719072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B8C4D8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999232"/>
            <a:ext cx="566928" cy="1719072"/>
          </a:xfrm>
          <a:prstGeom prst="rect">
            <a:avLst/>
          </a:prstGeom>
          <a:solidFill>
            <a:srgbClr val="F4A623">
              <a:alpha val="1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999232"/>
            <a:ext cx="56692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623"/>
                </a:solidFill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51560" y="312724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</a:rPr>
              <a:t>Trade-off privacy / utilité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529584"/>
            <a:ext cx="340156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80"/>
                </a:solidFill>
              </a:rPr>
              <a:t>La sanitisation agressive réduit l'utilité du texte jusqu'à 40% tout en n'éliminant pas totalement le risque de ré-identification.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2999232"/>
            <a:ext cx="4206240" cy="1719072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B8C4D8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999232"/>
            <a:ext cx="566928" cy="1719072"/>
          </a:xfrm>
          <a:prstGeom prst="rect">
            <a:avLst/>
          </a:prstGeom>
          <a:solidFill>
            <a:srgbClr val="9B59B6">
              <a:alpha val="1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2999232"/>
            <a:ext cx="56692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B59B6"/>
                </a:solidFill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86400" y="312724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</a:rPr>
              <a:t>Recommandations pratiques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0" y="3529584"/>
            <a:ext cx="340156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80"/>
                </a:solidFill>
              </a:rPr>
              <a:t>Guidelines pour développeurs : quels PII résistent mieux, dans quelles conditions la sanitisation est insuffisante sans mesures complémentaires.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04a  Limitations — Explicites (mentionnées par les auteurs)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B8C4D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1371600" cy="822960"/>
          </a:xfrm>
          <a:prstGeom prst="rect">
            <a:avLst/>
          </a:prstGeom>
          <a:solidFill>
            <a:srgbClr val="E85D37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058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5D37"/>
                </a:solidFill>
              </a:rPr>
              <a:t>Langue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01952" y="1097280"/>
            <a:ext cx="67482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5A80"/>
                </a:solidFill>
              </a:rPr>
              <a:t>Expériences uniquement en anglais. L'efficacité de l'attaque sur des langues morphologiquement riches (français, arabe, allemand) reste inconnue.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8412480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B8C4D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65960"/>
            <a:ext cx="1371600" cy="822960"/>
          </a:xfrm>
          <a:prstGeom prst="rect">
            <a:avLst/>
          </a:prstGeom>
          <a:solidFill>
            <a:srgbClr val="2E86AB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9659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AB"/>
                </a:solidFill>
              </a:rPr>
              <a:t>Corpus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01952" y="2057400"/>
            <a:ext cx="67482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5A80"/>
                </a:solidFill>
              </a:rPr>
              <a:t>Évaluation sur un ensemble de datasets limité. Les domaines médical, juridique et financier ont des structures PII très différentes qui peuvent réagir autrement.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8412480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B8C4D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926080"/>
            <a:ext cx="1371600" cy="822960"/>
          </a:xfrm>
          <a:prstGeom prst="rect">
            <a:avLst/>
          </a:prstGeom>
          <a:solidFill>
            <a:srgbClr val="F4A623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9260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623"/>
                </a:solidFill>
              </a:rPr>
              <a:t>Modèles LLM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01952" y="3017520"/>
            <a:ext cx="67482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5A80"/>
                </a:solidFill>
              </a:rPr>
              <a:t>L'attaque est testée avec des modèles existants (GPT-family). Des modèles futurs, plus puissants, présenteront des risques encore plus élevés.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886200"/>
            <a:ext cx="8412480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B8C4D8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886200"/>
            <a:ext cx="1371600" cy="822960"/>
          </a:xfrm>
          <a:prstGeom prst="rect">
            <a:avLst/>
          </a:prstGeom>
          <a:solidFill>
            <a:srgbClr val="9B59B6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8862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59B6"/>
                </a:solidFill>
              </a:rPr>
              <a:t>Déploiement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01952" y="3977640"/>
            <a:ext cx="67482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5A80"/>
                </a:solidFill>
              </a:rPr>
              <a:t>Le score de risque résiduel proposé n'est pas encore intégré dans des outils industriels. Son coût computationnel pour un usage temps-réel n'est pas évalué.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04b  Limitations — Implicites (identifiées à la lecture critique)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B8C4D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48640" cy="822960"/>
          </a:xfrm>
          <a:prstGeom prst="rect">
            <a:avLst/>
          </a:prstGeom>
          <a:solidFill>
            <a:srgbClr val="F39C12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058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107899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</a:rPr>
              <a:t>Hypothèse d'adversaire passif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389888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80"/>
                </a:solidFill>
              </a:rPr>
              <a:t>Le papier suppose un attaquant qui observe le texte mais n'interagit pas avec le pipeline. Un adversaire actif (prompt injection, manipulation du sanitiseur) représente une surface d'attaque plus large, non adressée.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8412480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B8C4D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965960"/>
            <a:ext cx="548640" cy="822960"/>
          </a:xfrm>
          <a:prstGeom prst="rect">
            <a:avLst/>
          </a:prstGeom>
          <a:solidFill>
            <a:srgbClr val="F39C12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96596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51560" y="203911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</a:rPr>
              <a:t>NER = PII formels uniquement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350008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80"/>
                </a:solidFill>
              </a:rPr>
              <a:t>Les PII implicites — descriptions comportementales, contexte temporel unique, détails biométriques indirects — ne sont jamais captés par les NER classiques, même performants.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8412480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B8C4D8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926080"/>
            <a:ext cx="548640" cy="822960"/>
          </a:xfrm>
          <a:prstGeom prst="rect">
            <a:avLst/>
          </a:prstGeom>
          <a:solidFill>
            <a:srgbClr val="F39C12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92608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51560" y="2999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</a:rPr>
              <a:t>Métrique de risque non granulaire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310128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80"/>
                </a:solidFill>
              </a:rPr>
              <a:t>Le score de risque agrège toutes les entités uniformément. Remplacer un prénom et remplacer un numéro de sécurité sociale ont le même poids dans le calcul — ce qui est discutable.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886200"/>
            <a:ext cx="8412480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B8C4D8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886200"/>
            <a:ext cx="548640" cy="822960"/>
          </a:xfrm>
          <a:prstGeom prst="rect">
            <a:avLst/>
          </a:prstGeom>
          <a:solidFill>
            <a:srgbClr val="F39C12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8862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51560" y="395935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</a:rPr>
              <a:t>Absence d'évaluation humaine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4270248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80"/>
                </a:solidFill>
              </a:rPr>
              <a:t>L'évaluation est entièrement automatisée. Des études utilisateur — avec de vrais humains tentant la ré-identification — seraient nécessaires pour valider que le score prédit correctement le risque réel.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05  Perspective choisie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024128"/>
          </a:xfrm>
          <a:prstGeom prst="rect">
            <a:avLst/>
          </a:prstGeom>
          <a:solidFill>
            <a:srgbClr val="EBF5FB"/>
          </a:solidFill>
          <a:ln w="15240">
            <a:solidFill>
              <a:srgbClr val="2E86AB"/>
            </a:solidFill>
            <a:prstDash val="solid"/>
          </a:ln>
          <a:effectLst>
            <a:outerShdw sx="100000" sy="100000" kx="0" ky="0" algn="bl" rotWithShape="0" blurRad="76200" dist="25400" dir="8100000">
              <a:srgbClr val="B8C4D8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515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</a:rPr>
              <a:t>Perspective  : </a:t>
            </a:r>
            <a:pPr indent="0" marL="0">
              <a:buNone/>
            </a:pPr>
            <a:r>
              <a:rPr lang="en-US" sz="1500" b="1" dirty="0">
                <a:solidFill>
                  <a:srgbClr val="1A2340"/>
                </a:solidFill>
              </a:rPr>
              <a:t>Évaluation automatisée de la robustesse post-sanitisation
</a:t>
            </a:r>
            <a:pPr indent="0" marL="0">
              <a:buNone/>
            </a:pPr>
            <a:r>
              <a:rPr lang="en-US" sz="1200" dirty="0">
                <a:solidFill>
                  <a:srgbClr val="3D5A80"/>
                </a:solidFill>
              </a:rPr>
              <a:t>Construire un outil de benchmark qui mesure, pour n'importe quel texte sanitisé, la quantité d'information PII encore récupérable par un LLM adversarial.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217627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</a:rPr>
              <a:t>Pourquoi cette perspective est pertinente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487168"/>
            <a:ext cx="4754880" cy="365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9" name="Shape 7"/>
          <p:cNvSpPr/>
          <p:nvPr/>
        </p:nvSpPr>
        <p:spPr>
          <a:xfrm>
            <a:off x="384048" y="2670048"/>
            <a:ext cx="310896" cy="31089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633472"/>
            <a:ext cx="7955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80"/>
                </a:solidFill>
              </a:rPr>
              <a:t>Directement issue des limitations : les auteurs appellent explicitement à des outils pratiques de mesure du risque résiduel.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" y="3236976"/>
            <a:ext cx="310896" cy="31089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3236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3200400"/>
            <a:ext cx="7955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80"/>
                </a:solidFill>
              </a:rPr>
              <a:t>Elle transforme le résultat théorique (score de risque) en un outil concret évaluant des stratégies réelles.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4048" y="3803904"/>
            <a:ext cx="310896" cy="31089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3767328"/>
            <a:ext cx="7955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80"/>
                </a:solidFill>
              </a:rPr>
              <a:t>Elle couvre une limitation implicite : le papier ne compare pas les stratégies de remplacement entre elles — notre démo le fait.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4048" y="4370832"/>
            <a:ext cx="310896" cy="31089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4370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4334256"/>
            <a:ext cx="7955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80"/>
                </a:solidFill>
              </a:rPr>
              <a:t>Implémentable sans infrastructure lourde : Python + spaCy + simulateur probabiliste suffisent.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E85D3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06  Démonstration — Architecture du pipeline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56032" y="1115568"/>
            <a:ext cx="1572768" cy="1371600"/>
          </a:xfrm>
          <a:prstGeom prst="rect">
            <a:avLst/>
          </a:prstGeom>
          <a:solidFill>
            <a:srgbClr val="E85D37">
              <a:alpha val="90000"/>
            </a:srgbClr>
          </a:solidFill>
          <a:ln/>
          <a:effectLst>
            <a:outerShdw sx="100000" sy="100000" kx="0" ky="0" algn="bl" rotWithShape="0" blurRad="76200" dist="25400" dir="8100000">
              <a:srgbClr val="B8C4D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20700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207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5D37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56032" y="171907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Texte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original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" y="208483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Texte avec PII réels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(noms, dates, IDs…)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847088" y="1618488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FA3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993392" y="1115568"/>
            <a:ext cx="1572768" cy="1371600"/>
          </a:xfrm>
          <a:prstGeom prst="rect">
            <a:avLst/>
          </a:prstGeom>
          <a:solidFill>
            <a:srgbClr val="2E86AB">
              <a:alpha val="90000"/>
            </a:srgbClr>
          </a:solidFill>
          <a:ln/>
          <a:effectLst>
            <a:outerShdw sx="100000" sy="100000" kx="0" ky="0" algn="bl" rotWithShape="0" blurRad="76200" dist="25400" dir="8100000">
              <a:srgbClr val="B8C4D8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42032" y="120700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2542032" y="1207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86AB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993392" y="171907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(spaCy)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93392" y="208483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Détection auto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des entités nommées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584448" y="1618488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FA3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730752" y="1115568"/>
            <a:ext cx="1572768" cy="1371600"/>
          </a:xfrm>
          <a:prstGeom prst="rect">
            <a:avLst/>
          </a:prstGeom>
          <a:solidFill>
            <a:srgbClr val="F4A623">
              <a:alpha val="90000"/>
            </a:srgbClr>
          </a:solidFill>
          <a:ln/>
          <a:effectLst>
            <a:outerShdw sx="100000" sy="100000" kx="0" ky="0" algn="bl" rotWithShape="0" blurRad="76200" dist="25400" dir="8100000">
              <a:srgbClr val="B8C4D8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79392" y="120700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279392" y="1207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623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730752" y="171907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Sanitisation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×3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30752" y="208483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Masquage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Pseudo. / Générique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21808" y="1618488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FA3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68112" y="1115568"/>
            <a:ext cx="1572768" cy="1371600"/>
          </a:xfrm>
          <a:prstGeom prst="rect">
            <a:avLst/>
          </a:prstGeom>
          <a:solidFill>
            <a:srgbClr val="9B59B6">
              <a:alpha val="90000"/>
            </a:srgbClr>
          </a:solidFill>
          <a:ln/>
          <a:effectLst>
            <a:outerShdw sx="100000" sy="100000" kx="0" ky="0" algn="bl" rotWithShape="0" blurRad="76200" dist="25400" dir="8100000">
              <a:srgbClr val="B8C4D8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16752" y="120700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016752" y="1207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B59B6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68112" y="171907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Attaque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LLM simulée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68112" y="208483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Tentative 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reconstruction des PII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059168" y="1618488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FA3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205472" y="1115568"/>
            <a:ext cx="1572768" cy="1371600"/>
          </a:xfrm>
          <a:prstGeom prst="rect">
            <a:avLst/>
          </a:prstGeom>
          <a:solidFill>
            <a:srgbClr val="2E86AB">
              <a:alpha val="90000"/>
            </a:srgbClr>
          </a:solidFill>
          <a:ln/>
          <a:effectLst>
            <a:outerShdw sx="100000" sy="100000" kx="0" ky="0" algn="bl" rotWithShape="0" blurRad="76200" dist="25400" dir="8100000">
              <a:srgbClr val="B8C4D8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754112" y="120700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7754112" y="1207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86AB"/>
                </a:solidFill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205472" y="171907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Score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risque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05472" y="208483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Taux 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ré-identification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2761488"/>
            <a:ext cx="8412480" cy="2176272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B8C4D8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2761488"/>
            <a:ext cx="841248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283464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</a:rPr>
              <a:t>Comment le score de risque est calculé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8640" y="3218688"/>
            <a:ext cx="804672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40"/>
                </a:solidFill>
              </a:rPr>
              <a:t>Pour chaque entité détectée</a:t>
            </a:r>
            <a:pPr indent="0" marL="0">
              <a:buNone/>
            </a:pPr>
            <a:r>
              <a:rPr lang="en-US" sz="1150" dirty="0">
                <a:solidFill>
                  <a:srgbClr val="3D5A80"/>
                </a:solidFill>
              </a:rPr>
              <a:t>, le simulateur tire un nombre aléatoire entre 0 et 1 et le compare à un </a:t>
            </a:r>
            <a:pPr indent="0" marL="0">
              <a:buNone/>
            </a:pPr>
            <a:r>
              <a:rPr lang="en-US" sz="1150" b="1" dirty="0">
                <a:solidFill>
                  <a:srgbClr val="2E86AB"/>
                </a:solidFill>
              </a:rPr>
              <a:t>taux de récupération calibré</a:t>
            </a:r>
            <a:pPr indent="0" marL="0">
              <a:buNone/>
            </a:pPr>
            <a:r>
              <a:rPr lang="en-US" sz="1150" dirty="0">
                <a:solidFill>
                  <a:srgbClr val="3D5A80"/>
                </a:solidFill>
              </a:rPr>
              <a:t> selon le type d'entité et la stratégie.</a:t>
            </a:r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</a:rPr>
              <a:t>
</a:t>
            </a:r>
            <a:endParaRPr lang="en-US" sz="1150" dirty="0"/>
          </a:p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</a:rPr>
              <a:t>Masquage / PERSON = 78%  </a:t>
            </a:r>
            <a:pPr indent="0" marL="0">
              <a:buNone/>
            </a:pPr>
            <a:r>
              <a:rPr lang="en-US" sz="1100" dirty="0">
                <a:solidFill>
                  <a:srgbClr val="3D5A80"/>
                </a:solidFill>
              </a:rPr>
              <a:t>→ contexte fort (rôle, genre révélés par la phrase)    </a:t>
            </a:r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</a:rPr>
              <a:t>Masquage / ID = 20%  </a:t>
            </a:r>
            <a:pPr indent="0" marL="0">
              <a:buNone/>
            </a:pPr>
            <a:r>
              <a:rPr lang="en-US" sz="1100" dirty="0">
                <a:solidFill>
                  <a:srgbClr val="3D5A80"/>
                </a:solidFill>
              </a:rPr>
              <a:t>→ identifiant opaque, imprévisible
</a:t>
            </a:r>
            <a:endParaRPr lang="en-US" sz="1150" dirty="0"/>
          </a:p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</a:rPr>
              <a:t>Générique / PERSON = 35%  </a:t>
            </a:r>
            <a:pPr indent="0" marL="0">
              <a:buNone/>
            </a:pPr>
            <a:r>
              <a:rPr lang="en-US" sz="1100" dirty="0">
                <a:solidFill>
                  <a:srgbClr val="3D5A80"/>
                </a:solidFill>
              </a:rPr>
              <a:t>→ "a person" donne peu d'indices    </a:t>
            </a:r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</a:rPr>
              <a:t>Score final = entités récupérées / total entités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E85D3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06  Démonstration en direct — Terminal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658368"/>
          </a:xfrm>
          <a:prstGeom prst="rect">
            <a:avLst/>
          </a:prstGeom>
          <a:solidFill>
            <a:srgbClr val="F0FBF4"/>
          </a:solidFill>
          <a:ln w="1016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33272"/>
            <a:ext cx="8046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80"/>
                </a:solidFill>
              </a:rPr>
              <a:t>Commande à lancer :  </a:t>
            </a:r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demo_live.py --auto</a:t>
            </a:r>
            <a:pPr indent="0" marL="0">
              <a:buNone/>
            </a:pPr>
            <a:r>
              <a:rPr lang="en-US" sz="1200" dirty="0">
                <a:solidFill>
                  <a:srgbClr val="3D5A80"/>
                </a:solidFill>
              </a:rPr>
              <a:t>   ou   </a:t>
            </a:r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demo_live.py</a:t>
            </a:r>
            <a:pPr indent="0" marL="0">
              <a:buNone/>
            </a:pPr>
            <a:r>
              <a:rPr lang="en-US" sz="1100" i="1" dirty="0">
                <a:solidFill>
                  <a:srgbClr val="6B7FA3"/>
                </a:solidFill>
              </a:rPr>
              <a:t>  (mode interactif)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847088"/>
            <a:ext cx="8412480" cy="914400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B8C4D8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847088"/>
            <a:ext cx="914400" cy="914400"/>
          </a:xfrm>
          <a:prstGeom prst="rect">
            <a:avLst/>
          </a:prstGeom>
          <a:solidFill>
            <a:srgbClr val="E85D37">
              <a:alpha val="1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84708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5D37"/>
                </a:solidFill>
              </a:rPr>
              <a:t>Étape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231136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D37"/>
                </a:solidFill>
              </a:rPr>
              <a:t>Détection NER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17320" y="1938528"/>
            <a:ext cx="7223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entités PII s'affichent en rouge dans le texte original.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[Dr. Sophie Tremblay](PERSON)  [DOB: 12 June 1978](DATE)  [file #MCH-2024-00442](ID)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71216"/>
            <a:ext cx="8412480" cy="914400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B8C4D8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871216"/>
            <a:ext cx="914400" cy="914400"/>
          </a:xfrm>
          <a:prstGeom prst="rect">
            <a:avLst/>
          </a:prstGeom>
          <a:solidFill>
            <a:srgbClr val="2E86AB">
              <a:alpha val="1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87121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86AB"/>
                </a:solidFill>
              </a:rPr>
              <a:t>Étape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3255264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6AB"/>
                </a:solidFill>
              </a:rPr>
              <a:t>Sanitisation ×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17320" y="2962656"/>
            <a:ext cx="7223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texte original apparaît en 3 versions 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[MASK_PERSON]…  /  Sam Tremblay…  /  a person…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895344"/>
            <a:ext cx="8412480" cy="914400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B8C4D8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895344"/>
            <a:ext cx="914400" cy="914400"/>
          </a:xfrm>
          <a:prstGeom prst="rect">
            <a:avLst/>
          </a:prstGeom>
          <a:solidFill>
            <a:srgbClr val="9B59B6">
              <a:alpha val="1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B59B6"/>
                </a:solidFill>
              </a:rPr>
              <a:t>Étape 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4279392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59B6"/>
                </a:solidFill>
              </a:rPr>
              <a:t>Score de risque + barre visuelle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17320" y="3986784"/>
            <a:ext cx="7223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[████████████░░░░░░]  83% RISQUE ÉLEVÉ    vs    [█████░░░░░░░░░░░░░]  16% RISQUE RÉDUIT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barre se remplit en rouge ou vert selon le risque de chaque stratégie.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736592"/>
            <a:ext cx="8412480" cy="32918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FA3"/>
                </a:solidFill>
              </a:rPr>
              <a:t>Tous les résultats s'affichent en direct dans le terminal. Chaque run peut varier légèrement (simulation probabiliste avec seed fixe pour la reproductibilité).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E85D3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115568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B8C4D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64008" cy="1115568"/>
          </a:xfrm>
          <a:prstGeom prst="rect">
            <a:avLst/>
          </a:prstGeom>
          <a:solidFill>
            <a:srgbClr val="E85D37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1430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D37"/>
                </a:solidFill>
              </a:rPr>
              <a:t>Ce que le papier apporte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1527048"/>
            <a:ext cx="8119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80"/>
                </a:solidFill>
              </a:rPr>
              <a:t>Un changement de paradigme : la question n'est plus « est-ce qu'on a masqué les PII ? » mais « combien d'information reste accessible à un adversaire LLM après la sanitisation ? » La sanitisation NER seule est insuffisante.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313432"/>
            <a:ext cx="8412480" cy="1115568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B8C4D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313432"/>
            <a:ext cx="64008" cy="111556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240487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</a:rPr>
              <a:t>Ce que notre démo illustre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0352" y="2788920"/>
            <a:ext cx="8119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80"/>
                </a:solidFill>
              </a:rPr>
              <a:t>En testant trois stratégies sur les mêmes textes, on valide l'insight clé : le remplacement générique est le plus robuste (~44% de risque), mais aucune stratégie n'atteint zéro. Le masquage simple laisse ~73% des données récupérables.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575304"/>
            <a:ext cx="8412480" cy="1115568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B8C4D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575304"/>
            <a:ext cx="64008" cy="1115568"/>
          </a:xfrm>
          <a:prstGeom prst="rect">
            <a:avLst/>
          </a:prstGeom>
          <a:solidFill>
            <a:srgbClr val="F4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3666744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623"/>
                </a:solidFill>
              </a:rPr>
              <a:t>Perspectives futures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0352" y="4050792"/>
            <a:ext cx="8119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80"/>
                </a:solidFill>
              </a:rPr>
              <a:t>Combiner sanitisation NER + differential privacy textuelle pour des garanties formelles. Ou entraîner un NER adversarial qui anticipe le risque résiduel avant même d'effectuer la sanitisation.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FA3"/>
                </a:solidFill>
              </a:rPr>
              <a:t>Paudel et al., « Sanitization or Deception? »  ·  PoPETs 2026  ·  Gestion Cybersécurité / Données Personnelles  ·  UQAC  ·  Avril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Sanitization or Deception? — Projet Pratique 2</dc:title>
  <dc:subject>PptxGenJS Presentation</dc:subject>
  <dc:creator>PptxGenJS</dc:creator>
  <cp:lastModifiedBy>PptxGenJS</cp:lastModifiedBy>
  <cp:revision>1</cp:revision>
  <dcterms:created xsi:type="dcterms:W3CDTF">2026-04-07T11:24:20Z</dcterms:created>
  <dcterms:modified xsi:type="dcterms:W3CDTF">2026-04-07T11:24:20Z</dcterms:modified>
</cp:coreProperties>
</file>